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E717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E7174"/>
                </a:solidFill>
                <a:latin typeface="Arial"/>
              </a:rPr>
              <a:t>Output price per million tokens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$/M tokens</c:v>
                </c:pt>
              </c:strCache>
            </c:strRef>
          </c:tx>
          <c:spPr>
            <a:solidFill>
              <a:srgbClr val="1380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Budget</c:v>
                  </c:pt>
                  <c:pt idx="1">
                    <c:v>Mid-tier</c:v>
                  </c:pt>
                  <c:pt idx="2">
                    <c:v>Frontier</c:v>
                  </c:pt>
                  <c:pt idx="3">
                    <c:v>Frontier Pro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15</c:v>
                </c:pt>
                <c:pt idx="2">
                  <c:v>25</c:v>
                </c:pt>
                <c:pt idx="3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1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1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Vendor-neutral, no-sell framing. You are a Tokenomics Foundation member — say it: we're not just teaching this, we're helping write the standards. Duration 2.5h.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three-number hook. Do the hands-up: who could tell me within 20% what you spent on AI last month? Keep it up if you know which team drove it. The second question is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credibility slide. Lean on the membership. Compatible with vendor-neutral: the Foundation is a standards body, not a product. Adjust 'member' to 'joining' if not yet finalized.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orientation. Don't dwell — name the six outcomes and move. Signpost that finance, technical, and leadership each get their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0:15. Goal: shared definition + why FinOps instincts need re-tuning. This earns credibility with the finance/FinOps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token plainly — some of the room won't know it. Use the words-per-token rule of thumb once,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Block 1. Frame as three structural differences. Don't dismiss 'isn't this just cloud cost mgmt' — validate it, then show what's genuinely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analogy is your mixed-room unlock — it lands for finance and engineers at once. If you do FinOps, you're re-pointing skills, not starting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Collect on the board. Land it: exposure is everywhere, visibility is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One mental model that connects the physics (silicon) to what leadership cares about (margin).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links. Manufacturing analogy: tokens are your steel. You don't control the price, but you control how much each unit uses and you negotiate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exactly what Exercise 2 asks them to find. Reset the intuition that input dominates — often generation is the expensive part (3-10x).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'We don't have the numbers' IS the finding, not a blocker. Estimates locate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1:15. Glance at which group looks restless; adjust signposting for the second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1:25. The 'what do we actually do' block. Be honest: each lever trades against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all three = 60-80% realistic. Every lever has a catch — that's why you measure each separately. Cost-cutting without a quality gate is just degradation you haven't noticed.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Caching is usually the simplest, highest-impact first move. The $24-&gt;$7.50 makes it real. Then explain the one-pager phrase 'without breaking your cache.'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shows the spread visually. Note the y-axis: frontier-pro output dwarfs the rest. The point isn't 'use cheap everywhere' — it's 'match model to task.'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Savings don't add cleanly — levers overlap. Promise 60-80% combined, not 90+90.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1:55. Turns one-time savings into durable practice. Your FinOps audience leans in hardest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Standards don't exist; measure anyway. Push them toward ONE metric, ONE workload. Cost per transaction is the keystone.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nuance in the workshop, and it's current. Different tolerances for production vs experimental spend. Same discipline, different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procurement's moment. The leverage is at renewal. Tie to Exercise 4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builds trust. Don't oversell. The Foundation membership turns 'unsolved' into 'we're helping solve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This is the Monday-morning action, not a someday project. Get them to commit to one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Collapse the day into three moves. Each group gets a concrete next step. Don't let them leave without naming a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framing from the open. The membership is the mic-drop: you don't just manage this, you shape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1554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1554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55448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practical foundation for managing the cost, accountability, and value of AI token spend.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   ·   No vendor   ·   </a:t>
            </a:r>
            <a:pPr indent="0" marL="0">
              <a:buNone/>
            </a:pPr>
            <a:r>
              <a:rPr lang="en-US" sz="13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Foundation member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spend is everywhere. Almost no one can see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36720" y="18745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24800" y="18745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240280"/>
            <a:ext cx="341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→ $200K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86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workload that costs $200/mo in a pilot can cost $200,000/mo in production. Nobody decides that — it accretes.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82440" y="2240280"/>
            <a:ext cx="341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vs 22%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56760" y="3291840"/>
            <a:ext cx="286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of FinOps teams now manage AI spend (up from 31% in 2024). Only ~22% of orgs track it per transaction.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70520" y="2240280"/>
            <a:ext cx="341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worth it?”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44840" y="3291840"/>
            <a:ext cx="286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if their AI delivers value, almost no one can answer with data today. That gap is what today closes.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everyone is exposed. Almost no one can see clearly. That is the opportunity, not the problem.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STANDARDS ARE BEING WRITTEN —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early to a fringe idea. You're shaping a standard.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59480" cy="3017520"/>
          </a:xfrm>
          <a:prstGeom prst="roundRect">
            <a:avLst>
              <a:gd name="adj" fmla="val 2727"/>
            </a:avLst>
          </a:prstGeom>
          <a:solidFill>
            <a:srgbClr val="1242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6888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81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caught 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81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FinOps Foundation’s 2026 framework formally expanded from cloud to include AI spend.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36720" y="2148840"/>
            <a:ext cx="3459480" cy="3017520"/>
          </a:xfrm>
          <a:prstGeom prst="roundRect">
            <a:avLst>
              <a:gd name="adj" fmla="val 2727"/>
            </a:avLst>
          </a:prstGeom>
          <a:solidFill>
            <a:srgbClr val="12424A"/>
          </a:solidFill>
          <a:ln/>
        </p:spPr>
      </p:sp>
      <p:sp>
        <p:nvSpPr>
          <p:cNvPr id="10" name="Shape 8"/>
          <p:cNvSpPr/>
          <p:nvPr/>
        </p:nvSpPr>
        <p:spPr>
          <a:xfrm>
            <a:off x="4556760" y="246888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1" name="Text 9"/>
          <p:cNvSpPr/>
          <p:nvPr/>
        </p:nvSpPr>
        <p:spPr>
          <a:xfrm>
            <a:off x="45567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6760" y="3154680"/>
            <a:ext cx="281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foundation is forming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6760" y="3703320"/>
            <a:ext cx="281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FinOps X 2026, the intent to form a Tokenomics Foundation was announced — open standards for AI billing across providers.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24800" y="2148840"/>
            <a:ext cx="3459480" cy="3017520"/>
          </a:xfrm>
          <a:prstGeom prst="roundRect">
            <a:avLst>
              <a:gd name="adj" fmla="val 2727"/>
            </a:avLst>
          </a:prstGeom>
          <a:solidFill>
            <a:srgbClr val="1242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4840" y="246888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6" name="Text 14"/>
          <p:cNvSpPr/>
          <p:nvPr/>
        </p:nvSpPr>
        <p:spPr>
          <a:xfrm>
            <a:off x="82448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44840" y="3154680"/>
            <a:ext cx="281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seat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4840" y="3703320"/>
            <a:ext cx="281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Tokenomics Foundation member, you don’t inherit the rules. You help write them.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C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compounds while you wait. Measuring now both protects you and earns your voice in what comes next.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PATH TO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walk out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definition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Tokenomics, mapped onto the practice you already run.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6720" y="192024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1040" y="221284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1" name="Text 9"/>
          <p:cNvSpPr/>
          <p:nvPr/>
        </p:nvSpPr>
        <p:spPr>
          <a:xfrm>
            <a:off x="45110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05400" y="2176272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supply chain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11040" y="278892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to margin — and where your exposure sits.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24800" y="192024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9120" y="221284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6" name="Text 14"/>
          <p:cNvSpPr/>
          <p:nvPr/>
        </p:nvSpPr>
        <p:spPr>
          <a:xfrm>
            <a:off x="81991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93480" y="2176272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99120" y="278892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route, compress — and which to try first.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959352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measurement starter kit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few metrics worth tracking before standards exist.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36720" y="370332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1040" y="399592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6" name="Text 24"/>
          <p:cNvSpPr/>
          <p:nvPr/>
        </p:nvSpPr>
        <p:spPr>
          <a:xfrm>
            <a:off x="45110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5400" y="3959352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vendor pricing playbook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11040" y="45720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push for contractual clarity as consumption pricing takes over.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24800" y="370332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99120" y="3995928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1" name="Text 29"/>
          <p:cNvSpPr/>
          <p:nvPr/>
        </p:nvSpPr>
        <p:spPr>
          <a:xfrm>
            <a:off x="819912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93480" y="3959352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30-60-90 plan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9120" y="45720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to start on Monday, not someday.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tokenomics is, and why your cloud playbooks don’t transfer cleanly.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 </a:t>
            </a:r>
            <a:pPr indent="0" marL="0">
              <a:buNone/>
            </a:pPr>
            <a:r>
              <a:rPr lang="en-US" sz="19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of managing the cost, accountability, and value of AI token consumption.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token?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AI models are billed on — roughly a chunk of text.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~1,000 tokens ≈ 750 words.  You pay separately for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tokens (what you send) and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tokens (what the model generates back).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cloud &amp; FinOps playbooks don't fully transfer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6912" cy="3200400"/>
          </a:xfrm>
          <a:prstGeom prst="roundRect">
            <a:avLst>
              <a:gd name="adj" fmla="val 2571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19456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788920"/>
            <a:ext cx="2883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is non-deterministic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0392" y="3566160"/>
            <a:ext cx="2883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VM costs the same every hour. An AI call doesn’t — cost depends on answer length, retries, and which model ran it. You meter a probabilistic process.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36720" y="1874520"/>
            <a:ext cx="3486912" cy="3200400"/>
          </a:xfrm>
          <a:prstGeom prst="roundRect">
            <a:avLst>
              <a:gd name="adj" fmla="val 2571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8472" y="219456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1" name="Text 9"/>
          <p:cNvSpPr/>
          <p:nvPr/>
        </p:nvSpPr>
        <p:spPr>
          <a:xfrm>
            <a:off x="453847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38472" y="2788920"/>
            <a:ext cx="2883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a cost axis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38472" y="3566160"/>
            <a:ext cx="2883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cloud, cheaper = same result. In AI, a cheaper model means a different, often worse answer. Cost and quality are coupled — you can’t optimize one alone.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24800" y="1874520"/>
            <a:ext cx="3486912" cy="3200400"/>
          </a:xfrm>
          <a:prstGeom prst="roundRect">
            <a:avLst>
              <a:gd name="adj" fmla="val 2571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6552" y="219456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655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6552" y="2788920"/>
            <a:ext cx="2883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floor is unstable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6552" y="3566160"/>
            <a:ext cx="2883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Per-token prices fell ~80% in a year, yet consumption soars and GPU/energy limits mean prices won’t keep falling. “It’ll get cheaper” is the trap.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fourth, quieter difference: opacity — billing arrives per-token, rarely telling you which feature, customer, or transaction drove 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THE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the shifting utility meter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FinOps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a metered utility with a stable menu: known rates, predictable appliances.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utility where the meter spins at a different rate every time you flip the switch, the appliance sometimes redoes the job twice, and the catalog of appliances changes every month.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FinOps muscles still apply — allocation, showback, unit economics, commitments. The resource underneath just behaves differently, so the muscles need re-tuning.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55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AI spend hide?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465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the visibility gap — map where AI spend enters and who owns each bill.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11810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every place AI spend enters: direct API, AI in SaaS subscriptions, copilots, shadow usage on personal cards.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014216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95935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who owns each bill and whether anyone is tracking it (most rows: nobody).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Debrief: which row surprised you, and which is the biggest spend you can’t currently see?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· estimates are fine · “we don’t know” is a valid answer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tokens flow from silicon to margin — and where your exposure sits.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SUPPLY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supply chain: silicon → margin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457450" cy="2651760"/>
          </a:xfrm>
          <a:prstGeom prst="roundRect">
            <a:avLst>
              <a:gd name="adj" fmla="val 334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0916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/ GPUs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09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floor. GPU compute ~15x CPU; supply &amp; energy constrained.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5181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17570" y="2286000"/>
            <a:ext cx="2457450" cy="2651760"/>
          </a:xfrm>
          <a:prstGeom prst="roundRect">
            <a:avLst>
              <a:gd name="adj" fmla="val 334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6170" y="251460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2" name="Text 10"/>
          <p:cNvSpPr/>
          <p:nvPr/>
        </p:nvSpPr>
        <p:spPr>
          <a:xfrm>
            <a:off x="364617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0450" y="3154680"/>
            <a:ext cx="20916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0450" y="3794760"/>
            <a:ext cx="209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→ per-token price. Output costs 3–10x input.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074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86500" y="2286000"/>
            <a:ext cx="2457450" cy="2651760"/>
          </a:xfrm>
          <a:prstGeom prst="roundRect">
            <a:avLst>
              <a:gd name="adj" fmla="val 3349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5100" y="251460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8" name="Text 16"/>
          <p:cNvSpPr/>
          <p:nvPr/>
        </p:nvSpPr>
        <p:spPr>
          <a:xfrm>
            <a:off x="65151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9380" y="3154680"/>
            <a:ext cx="20916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9380" y="3794760"/>
            <a:ext cx="209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context, retries &amp; caching decide tokens per task. You control this most.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8967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55430" y="2286000"/>
            <a:ext cx="2457450" cy="2651760"/>
          </a:xfrm>
          <a:prstGeom prst="roundRect">
            <a:avLst>
              <a:gd name="adj" fmla="val 3349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84030" y="251460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4" name="Text 22"/>
          <p:cNvSpPr/>
          <p:nvPr/>
        </p:nvSpPr>
        <p:spPr>
          <a:xfrm>
            <a:off x="938403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38310" y="3154680"/>
            <a:ext cx="20916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margin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38310" y="3794760"/>
            <a:ext cx="209169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 becomes COGS. Flat pricing on metered cost erodes margin.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raw-material shock — a GPU shortage, an energy spike — flows downstream to your margin unless you’ve hedged with caching, routing, and vendor terms.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SUPPLY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exposure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21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ratio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prompts + short answers is a different cost shape than the reverse. Output is the expensive direction.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1214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&amp; errors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retry is a full re-bill — a hidden tax that never appears as a line item.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7216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bloat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Stuffing context “just in case” inflates every call. You pay for context on every request.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520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72160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mismatch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1605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trap: flat price, metered cost. Your customers’ behavior moves your COGS.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556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model per token is not the cheapest model per task.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55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your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465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real workload and locate your exposure on the supply chain.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11810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workload: a support assistant, a document analyzer, a coding copilot.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014216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95935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input/output mix? who pays? how are customers charged vs how you’re charged? where does a 2x price change hurt?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Debrief: one table shares. Exposure is specific and findable — you don’t need perfect data.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· estimates are fine · “we don’t know” is a valid answer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5603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25603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25603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5603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minutes. Next: the practical half — how to spend less, and how to govern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Efficiency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route, compress — the three stackable levers, in plain terms.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 · ROUTING &amp; EFFICIENCY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stackable levers — 60–80% off when combined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6912" cy="3383280"/>
          </a:xfrm>
          <a:prstGeom prst="roundRect">
            <a:avLst>
              <a:gd name="adj" fmla="val 2432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2103120"/>
            <a:ext cx="2883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0392" y="2697480"/>
            <a:ext cx="2883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expensive first “read” of static context.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0392" y="3611880"/>
            <a:ext cx="2883408" cy="548640"/>
          </a:xfrm>
          <a:prstGeom prst="roundRect">
            <a:avLst>
              <a:gd name="adj" fmla="val 10000"/>
            </a:avLst>
          </a:prstGeom>
          <a:solidFill>
            <a:srgbClr val="E8F1F2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3611880"/>
            <a:ext cx="2700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90% off cached 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4297680"/>
            <a:ext cx="2883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Catch:  </a:t>
            </a:r>
            <a:pPr indent="0" marL="0">
              <a:buNone/>
            </a:pPr>
            <a:r>
              <a:rPr lang="en-US" sz="12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static prefix stable — don’t break the cache.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36720" y="1874520"/>
            <a:ext cx="3486912" cy="3383280"/>
          </a:xfrm>
          <a:prstGeom prst="roundRect">
            <a:avLst>
              <a:gd name="adj" fmla="val 2432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38472" y="2103120"/>
            <a:ext cx="2883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38472" y="2697480"/>
            <a:ext cx="2883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each request to the cheapest model that passes your bar.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38472" y="3611880"/>
            <a:ext cx="2883408" cy="548640"/>
          </a:xfrm>
          <a:prstGeom prst="roundRect">
            <a:avLst>
              <a:gd name="adj" fmla="val 10000"/>
            </a:avLst>
          </a:prstGeom>
          <a:solidFill>
            <a:srgbClr val="E8F1F2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912" y="3611880"/>
            <a:ext cx="2700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~150x spread within one provider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38472" y="4297680"/>
            <a:ext cx="2883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Catch:  </a:t>
            </a:r>
            <a:pPr indent="0" marL="0">
              <a:buNone/>
            </a:pPr>
            <a:r>
              <a:rPr lang="en-US" sz="12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evals, or you trade cost for quality blindly.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24800" y="1874520"/>
            <a:ext cx="3486912" cy="3383280"/>
          </a:xfrm>
          <a:prstGeom prst="roundRect">
            <a:avLst>
              <a:gd name="adj" fmla="val 2432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6552" y="2103120"/>
            <a:ext cx="2883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26552" y="2697480"/>
            <a:ext cx="2883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prompts, leaner context, caps on output length.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6552" y="3611880"/>
            <a:ext cx="2883408" cy="548640"/>
          </a:xfrm>
          <a:prstGeom prst="roundRect">
            <a:avLst>
              <a:gd name="adj" fmla="val 10000"/>
            </a:avLst>
          </a:prstGeom>
          <a:solidFill>
            <a:srgbClr val="E8F1F2"/>
          </a:solidFill>
          <a:ln/>
        </p:spPr>
      </p:sp>
      <p:sp>
        <p:nvSpPr>
          <p:cNvPr id="20" name="Text 18"/>
          <p:cNvSpPr/>
          <p:nvPr/>
        </p:nvSpPr>
        <p:spPr>
          <a:xfrm>
            <a:off x="8317992" y="3611880"/>
            <a:ext cx="2700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the costly direction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6552" y="4297680"/>
            <a:ext cx="2883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Catch:  </a:t>
            </a:r>
            <a:pPr indent="0" marL="0">
              <a:buNone/>
            </a:pPr>
            <a:r>
              <a:rPr lang="en-US" sz="12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Over-compression loses nuance.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batching: async, non-urgent jobs run ~50% cheaper.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 · MAKE IT CONCRETE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Caching, with a number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89550" cy="3108960"/>
          </a:xfrm>
          <a:prstGeom prst="roundRect">
            <a:avLst>
              <a:gd name="adj" fmla="val 264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3580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follow-up questions on a large fixed corpus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358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</a:t>
            </a:r>
            <a:pPr algn="ctr" indent="0" marL="0">
              <a:buNone/>
            </a:pPr>
            <a:r>
              <a:rPr lang="en-US" sz="300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44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$7.50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43580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call pays full price; the rest pay a small fraction. Same answers, ~a third of the cost — from one configuration change.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03950" y="2057400"/>
            <a:ext cx="56089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“Without breaking your cache”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03950" y="2606040"/>
            <a:ext cx="56089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stores the processed state of a stable prompt prefix.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something dynamic near the top — a timestamp, a user name — and you invalidate it, paying full price again.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discipline: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stable first (system prompt, reference text), everything dynamic last. Order matters more than people expect.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 ·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the easy 80%. Reserve the frontier for the rest.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6085332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9732" y="2011680"/>
            <a:ext cx="4613148" cy="3017520"/>
          </a:xfrm>
          <a:prstGeom prst="roundRect">
            <a:avLst>
              <a:gd name="adj" fmla="val 272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9772" y="2286000"/>
            <a:ext cx="3973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single provider, the price spread can be ~150x.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9772" y="3154680"/>
            <a:ext cx="39730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alone can turn a $1,200 workload into $100.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Cascade: default to the cheap model, escalate only the uncertain cases. Reserve frontier/reasoning models for the 10–20% that truly need them.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fear is real — “cheaper model = worse product.” Reframe: quality stays on the hard 20%; cost drops on the easy 80%.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55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the savings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465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the leverage of cache, route, and compress on a realistic workload.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11810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workbook’s sample workload (or your own rough numbers).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014216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95935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each lever in turn: a cache hit rate, a routing split, an output cap — tally the combined effect.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Debrief: the biggest win is usually the first lever, not the third. Start where it’s easiest.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· estimates are fine · “we don’t know” is a valid answer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21488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measure now, how to govern it, and what’s still unsolved.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measure now — before standards exist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93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transaction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~22% track it — the single biggest gap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993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Cost-to-serve per customer / feature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 spend to margin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53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token ratio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signal; flags bloat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283464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953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cheapest lever working?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913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mix / routing split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Over-using frontier models?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79476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913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/ error rate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55080" y="4251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re-billing tax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one. If you adopt a single metric, make it cost per transaction on one workload — that’s the one that changes behavior.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it — without killing experimentation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FinOps framework’s sharpest point about AI: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innovation-focused AI scope should tolerate higher waste, run fast, and accept low maturity.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486912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931920"/>
            <a:ext cx="2938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your scopes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2938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production tightly; govern experiments loosely, on purpose.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6720" y="3703320"/>
            <a:ext cx="3486912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1040" y="3931920"/>
            <a:ext cx="2938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→ walk → run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1040" y="4526280"/>
            <a:ext cx="2938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(visibility) → Optimize (levers) → Operate (routine). Don’t jump to chargeback.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24800" y="3703320"/>
            <a:ext cx="3486912" cy="1783080"/>
          </a:xfrm>
          <a:prstGeom prst="roundRect">
            <a:avLst>
              <a:gd name="adj" fmla="val 4615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9120" y="3931920"/>
            <a:ext cx="2938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before chargeback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99120" y="4526280"/>
            <a:ext cx="2938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teams their spend before you bill them. One owner per scope.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cloud-era efficiency to AI experiments and you either starve them or fake the governance.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pricing playbook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consumption pricing takes over, your leverage is at contract time. Push for these: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13432"/>
            <a:ext cx="292608" cy="29260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Transparent, itemized per-token billing — not one opaque figure.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313432"/>
            <a:ext cx="292608" cy="29260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Committed-use discounts and price protection / rate-lock.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273552"/>
            <a:ext cx="292608" cy="29260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2004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for caching &amp; batch discounts, and how cached tokens are billed.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3273552"/>
            <a:ext cx="292608" cy="29260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deprecation / sunset notice before a model you depend on changes.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233672"/>
            <a:ext cx="292608" cy="29260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160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token-counting methodology — and whether it can change.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4233672"/>
            <a:ext cx="292608" cy="29260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Overage, rate-limit, and burst terms — and what they cost.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question bank in your workbook — draft your top five for a real contract you hold.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 · BE HONEST ABOUT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unsolved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9480" cy="2743200"/>
          </a:xfrm>
          <a:prstGeom prst="roundRect">
            <a:avLst>
              <a:gd name="adj" fmla="val 3000"/>
            </a:avLst>
          </a:prstGeom>
          <a:solidFill>
            <a:srgbClr val="12424A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2468880"/>
            <a:ext cx="2855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cross-provider billing standard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0392" y="3429000"/>
            <a:ext cx="2855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forming Tokenomics Foundation is the attempt to fix it — and you’re part of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36720" y="2194560"/>
            <a:ext cx="3459480" cy="2743200"/>
          </a:xfrm>
          <a:prstGeom prst="roundRect">
            <a:avLst>
              <a:gd name="adj" fmla="val 3000"/>
            </a:avLst>
          </a:prstGeom>
          <a:solidFill>
            <a:srgbClr val="12424A"/>
          </a:solidFill>
          <a:ln/>
        </p:spPr>
      </p:sp>
      <p:sp>
        <p:nvSpPr>
          <p:cNvPr id="8" name="Text 6"/>
          <p:cNvSpPr/>
          <p:nvPr/>
        </p:nvSpPr>
        <p:spPr>
          <a:xfrm>
            <a:off x="4538472" y="2468880"/>
            <a:ext cx="2855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question is open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38472" y="3429000"/>
            <a:ext cx="2855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agreed way yet to prove an AI feature delivers its intended value.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24800" y="2194560"/>
            <a:ext cx="3459480" cy="2743200"/>
          </a:xfrm>
          <a:prstGeom prst="roundRect">
            <a:avLst>
              <a:gd name="adj" fmla="val 3000"/>
            </a:avLst>
          </a:prstGeom>
          <a:solidFill>
            <a:srgbClr val="1242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6552" y="2468880"/>
            <a:ext cx="2855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prices keep falling?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6552" y="3429000"/>
            <a:ext cx="2855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GPU &amp; energy limits suggest the easy declines are ending.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C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won’t get this perfect — perfect doesn’t exist yet. Measure one real thing, govern experiments differently, and walk into your next renewal with better questions.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55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starter kit &amp; vendor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465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 </a:t>
            </a:r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your first metrics and your real vendor questions.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11810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A: pick your first three metrics — and the one workload you’ll instrument first.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014216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95935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B: draft your top five vendor questions for a contract you actually hold.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384048" cy="384048"/>
          </a:xfrm>
          <a:prstGeom prst="ellipse">
            <a:avLst/>
          </a:prstGeom>
          <a:solidFill>
            <a:srgbClr val="2FBF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Debrief: a few share their “first metric, first workload.” This is the Monday action.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· estimates are fine · “we don’t know” is a valid answer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PATH TO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60 · 90 — start Monday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86912" cy="3108960"/>
          </a:xfrm>
          <a:prstGeom prst="roundRect">
            <a:avLst>
              <a:gd name="adj" fmla="val 264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228600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392" y="292608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3520440"/>
            <a:ext cx="2883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cost per transaction on one workload, and finish your map of where spend hides.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36720" y="2011680"/>
            <a:ext cx="3486912" cy="3108960"/>
          </a:xfrm>
          <a:prstGeom prst="roundRect">
            <a:avLst>
              <a:gd name="adj" fmla="val 2647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8472" y="228600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38472" y="292608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 saving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8472" y="3520440"/>
            <a:ext cx="2883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one lever — caching or routing — to one workload and measure the before/after.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24800" y="2011680"/>
            <a:ext cx="3486912" cy="3108960"/>
          </a:xfrm>
          <a:prstGeom prst="roundRect">
            <a:avLst>
              <a:gd name="adj" fmla="val 2647"/>
            </a:avLst>
          </a:prstGeom>
          <a:solidFill>
            <a:srgbClr val="F4F9FA"/>
          </a:solidFill>
          <a:ln/>
          <a:effectLst>
            <a:outerShdw sx="100000" sy="100000" kx="0" ky="0" algn="bl" rotWithShape="0" blurRad="114300" dist="38100" dir="5400000">
              <a:srgbClr val="0B31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6552" y="228600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6552" y="2926080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stick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6552" y="3520440"/>
            <a:ext cx="2883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owners, separate experimental from production scopes, take the playbook into one renewal.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one workload before you leave the room.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" y="1828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1828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828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BFB0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waiting for the standards.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helping write them.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one thing. Govern your experiments sensibly. Negotiate with better questions. That already puts you ahead of almost everyone — and as a Tokenomics Foundation member, in the room where it’s decided.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 Workshop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Tokenomics Workshop</dc:title>
  <dc:subject>PptxGenJS Presentation</dc:subject>
  <dc:creator>Tokenomics Workshop</dc:creator>
  <cp:lastModifiedBy>Tokenomics Workshop</cp:lastModifiedBy>
  <cp:revision>1</cp:revision>
  <dcterms:created xsi:type="dcterms:W3CDTF">2026-06-16T16:03:34Z</dcterms:created>
  <dcterms:modified xsi:type="dcterms:W3CDTF">2026-06-16T16:03:34Z</dcterms:modified>
</cp:coreProperties>
</file>